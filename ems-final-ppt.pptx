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16"/>
  </p:notesMasterIdLst>
  <p:sldIdLst>
    <p:sldId id="281" r:id="rId4"/>
    <p:sldId id="327" r:id="rId5"/>
    <p:sldId id="316" r:id="rId6"/>
    <p:sldId id="332" r:id="rId7"/>
    <p:sldId id="333" r:id="rId8"/>
    <p:sldId id="334" r:id="rId9"/>
    <p:sldId id="328" r:id="rId10"/>
    <p:sldId id="335" r:id="rId11"/>
    <p:sldId id="336" r:id="rId12"/>
    <p:sldId id="329" r:id="rId13"/>
    <p:sldId id="330" r:id="rId14"/>
    <p:sldId id="314" r:id="rId15"/>
  </p:sldIdLst>
  <p:sldSz cx="9144000" cy="6858000" type="screen4x3"/>
  <p:notesSz cx="91440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6" d="100"/>
          <a:sy n="56" d="100"/>
        </p:scale>
        <p:origin x="1508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BC1FE-0D27-420D-ACF3-3E7C33926969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22932-FB73-4B31-94D5-4A7F88516CB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/>
        </p:nvPicPr>
        <p:blipFill>
          <a:blip r:embed="rId2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/>
          <p:nvPr userDrawn="1"/>
        </p:nvGrpSpPr>
        <p:grpSpPr bwMode="auto">
          <a:xfrm>
            <a:off x="6552602" y="0"/>
            <a:ext cx="2134198" cy="876300"/>
            <a:chOff x="6477000" y="3924300"/>
            <a:chExt cx="2235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502400" y="3924300"/>
              <a:ext cx="22098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6507541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4784"/>
            <a:ext cx="8229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</a:fld>
            <a:endParaRPr lang="en-IN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588720" y="201617"/>
            <a:ext cx="1828800" cy="9239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/>
        </p:nvPicPr>
        <p:blipFill>
          <a:blip r:embed="rId2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/>
          <p:nvPr userDrawn="1"/>
        </p:nvGrpSpPr>
        <p:grpSpPr bwMode="auto">
          <a:xfrm>
            <a:off x="6552602" y="0"/>
            <a:ext cx="2134198" cy="876300"/>
            <a:chOff x="6477000" y="3924300"/>
            <a:chExt cx="2235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502400" y="3924300"/>
              <a:ext cx="22098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 sz="1800" dirty="0">
                <a:latin typeface="Calibri" panose="020F0502020204030204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6507541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4784"/>
            <a:ext cx="8229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</a:fld>
            <a:endParaRPr lang="en-IN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588720" y="201617"/>
            <a:ext cx="1828800" cy="92392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</a:fld>
            <a:endParaRPr lang="en-IN" dirty="0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3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3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37" name="Group 7"/>
          <p:cNvGrpSpPr/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Calibri" panose="020F0502020204030204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3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6629400" y="201617"/>
            <a:ext cx="1828800" cy="9239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</a:fld>
            <a:endParaRPr lang="en-IN" dirty="0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 sz="1800">
              <a:latin typeface="Calibri" panose="020F0502020204030204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 sz="1800"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3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3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37" name="Group 7"/>
          <p:cNvGrpSpPr/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 sz="1800">
                <a:latin typeface="Calibri" panose="020F0502020204030204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3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/>
            </a:p>
          </p:txBody>
        </p:sp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6629400" y="201617"/>
            <a:ext cx="1828800" cy="9239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/>
          <p:nvPr/>
        </p:nvSpPr>
        <p:spPr>
          <a:xfrm>
            <a:off x="457200" y="1066800"/>
            <a:ext cx="8229600" cy="517334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R="8255" algn="ctr">
              <a:lnSpc>
                <a:spcPct val="100000"/>
              </a:lnSpc>
              <a:spcBef>
                <a:spcPts val="330"/>
              </a:spcBef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 Presentation of Industry Oriented Hand on Experience</a:t>
            </a:r>
            <a:r>
              <a:rPr lang="en-I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(22CS422)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 algn="ctr">
              <a:lnSpc>
                <a:spcPct val="100000"/>
              </a:lnSpc>
              <a:spcBef>
                <a:spcPts val="330"/>
              </a:spcBef>
            </a:pPr>
            <a:r>
              <a:rPr lang="en-IN" sz="2200" dirty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On</a:t>
            </a:r>
            <a:endParaRPr lang="en-IN" sz="2200" dirty="0">
              <a:solidFill>
                <a:srgbClr val="000000"/>
              </a:solidFill>
              <a:latin typeface="Times New Roman" panose="02020603050405020304" pitchFamily="18" charset="0"/>
              <a:sym typeface="+mn-ea"/>
            </a:endParaRPr>
          </a:p>
          <a:p>
            <a:pPr marR="8255" algn="ctr">
              <a:lnSpc>
                <a:spcPct val="100000"/>
              </a:lnSpc>
              <a:spcBef>
                <a:spcPts val="330"/>
              </a:spcBef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        </a:t>
            </a:r>
            <a:r>
              <a:rPr lang="en-I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Smart Enterprise Employee Management System </a:t>
            </a:r>
            <a:endParaRPr lang="en-IN" altLang="en-US" sz="2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R="8255" algn="ctr">
              <a:lnSpc>
                <a:spcPct val="100000"/>
              </a:lnSpc>
              <a:spcBef>
                <a:spcPts val="330"/>
              </a:spcBef>
            </a:pPr>
            <a:r>
              <a:rPr lang="en-IN" sz="2200" dirty="0">
                <a:latin typeface="+mj-lt"/>
                <a:cs typeface="Times New Roman" panose="02020603050405020304" pitchFamily="18" charset="0"/>
              </a:rPr>
              <a:t> </a:t>
            </a:r>
            <a:endParaRPr lang="en-IN" sz="2200" dirty="0"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2200" b="1" dirty="0">
                <a:latin typeface="Times New Roman" panose="02020603050405020304"/>
                <a:cs typeface="Times New Roman" panose="02020603050405020304"/>
                <a:sym typeface="+mn-ea"/>
              </a:rPr>
              <a:t>Presented</a:t>
            </a:r>
            <a:r>
              <a:rPr sz="2200" b="1" spc="-9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200" b="1" spc="-25" dirty="0">
                <a:latin typeface="Times New Roman" panose="02020603050405020304"/>
                <a:cs typeface="Times New Roman" panose="02020603050405020304"/>
                <a:sym typeface="+mn-ea"/>
              </a:rPr>
              <a:t>By:</a:t>
            </a:r>
            <a:r>
              <a:rPr lang="en-IN" sz="2200" b="1" spc="-25" dirty="0">
                <a:latin typeface="Times New Roman" panose="02020603050405020304"/>
                <a:cs typeface="Times New Roman" panose="02020603050405020304"/>
                <a:sym typeface="+mn-ea"/>
              </a:rPr>
              <a:t>					</a:t>
            </a:r>
            <a:endParaRPr sz="22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pos="527685" algn="l"/>
              </a:tabLst>
            </a:pPr>
            <a:r>
              <a:rPr lang="en-US" sz="1800" spc="-25" dirty="0">
                <a:latin typeface="Times New Roman" panose="02020603050405020304"/>
                <a:cs typeface="Times New Roman" panose="02020603050405020304"/>
                <a:sym typeface="+mn-ea"/>
              </a:rPr>
              <a:t>1. </a:t>
            </a:r>
            <a:r>
              <a:rPr lang="en-IN" altLang="en-US" sz="1800" spc="-25" dirty="0">
                <a:latin typeface="Times New Roman" panose="02020603050405020304"/>
                <a:cs typeface="Times New Roman" panose="02020603050405020304"/>
                <a:sym typeface="+mn-ea"/>
              </a:rPr>
              <a:t>Vivek Singh</a:t>
            </a:r>
            <a:r>
              <a:rPr sz="1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en-IN" sz="1800" spc="-25" dirty="0">
                <a:latin typeface="Times New Roman" panose="02020603050405020304"/>
                <a:cs typeface="Times New Roman" panose="02020603050405020304"/>
                <a:sym typeface="+mn-ea"/>
              </a:rPr>
              <a:t>  </a:t>
            </a:r>
            <a:r>
              <a:rPr sz="1800" spc="-10" dirty="0">
                <a:latin typeface="Times New Roman" panose="02020603050405020304"/>
                <a:cs typeface="Times New Roman" panose="02020603050405020304"/>
                <a:sym typeface="+mn-ea"/>
              </a:rPr>
              <a:t>(2211981</a:t>
            </a:r>
            <a:r>
              <a:rPr lang="en-US" sz="1800" spc="-10" dirty="0">
                <a:latin typeface="Times New Roman" panose="02020603050405020304"/>
                <a:cs typeface="Times New Roman" panose="02020603050405020304"/>
                <a:sym typeface="+mn-ea"/>
              </a:rPr>
              <a:t>4</a:t>
            </a:r>
            <a:r>
              <a:rPr lang="en-IN" altLang="en-US" sz="1800" spc="-10" dirty="0">
                <a:latin typeface="Times New Roman" panose="02020603050405020304"/>
                <a:cs typeface="Times New Roman" panose="02020603050405020304"/>
                <a:sym typeface="+mn-ea"/>
              </a:rPr>
              <a:t>68</a:t>
            </a:r>
            <a:r>
              <a:rPr sz="1800" spc="-10" dirty="0">
                <a:latin typeface="Times New Roman" panose="02020603050405020304"/>
                <a:cs typeface="Times New Roman" panose="02020603050405020304"/>
                <a:sym typeface="+mn-ea"/>
              </a:rPr>
              <a:t>)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pos="527685" algn="l"/>
              </a:tabLst>
            </a:pPr>
            <a:r>
              <a:rPr lang="en-US" sz="1800" spc="-10" dirty="0">
                <a:latin typeface="Times New Roman" panose="02020603050405020304"/>
                <a:cs typeface="Times New Roman" panose="02020603050405020304"/>
                <a:sym typeface="+mn-ea"/>
              </a:rPr>
              <a:t>2. </a:t>
            </a:r>
            <a:r>
              <a:rPr lang="en-IN" altLang="en-US" sz="1800" spc="-10" dirty="0">
                <a:latin typeface="Times New Roman" panose="02020603050405020304"/>
                <a:cs typeface="Times New Roman" panose="02020603050405020304"/>
                <a:sym typeface="+mn-ea"/>
              </a:rPr>
              <a:t>Utkarsh</a:t>
            </a:r>
            <a:r>
              <a:rPr lang="en-US" sz="1800" spc="-10" dirty="0">
                <a:latin typeface="Times New Roman" panose="02020603050405020304"/>
                <a:cs typeface="Times New Roman" panose="02020603050405020304"/>
                <a:sym typeface="+mn-ea"/>
              </a:rPr>
              <a:t>   </a:t>
            </a:r>
            <a:r>
              <a:rPr lang="en-IN" altLang="en-US" sz="1800" spc="-10" dirty="0">
                <a:latin typeface="Times New Roman" panose="02020603050405020304"/>
                <a:cs typeface="Times New Roman" panose="02020603050405020304"/>
                <a:sym typeface="+mn-ea"/>
              </a:rPr>
              <a:t>      </a:t>
            </a:r>
            <a:r>
              <a:rPr lang="en-US" sz="1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  <a:sym typeface="+mn-ea"/>
              </a:rPr>
              <a:t>(2211981</a:t>
            </a:r>
            <a:r>
              <a:rPr lang="en-US" sz="1800" spc="-10" dirty="0">
                <a:latin typeface="Times New Roman" panose="02020603050405020304"/>
                <a:cs typeface="Times New Roman" panose="02020603050405020304"/>
                <a:sym typeface="+mn-ea"/>
              </a:rPr>
              <a:t>4</a:t>
            </a:r>
            <a:r>
              <a:rPr lang="en-IN" altLang="en-US" sz="1800" spc="-10" dirty="0">
                <a:latin typeface="Times New Roman" panose="02020603050405020304"/>
                <a:cs typeface="Times New Roman" panose="02020603050405020304"/>
                <a:sym typeface="+mn-ea"/>
              </a:rPr>
              <a:t>43</a:t>
            </a:r>
            <a:r>
              <a:rPr sz="1800" spc="-10" dirty="0">
                <a:latin typeface="Times New Roman" panose="02020603050405020304"/>
                <a:cs typeface="Times New Roman" panose="02020603050405020304"/>
                <a:sym typeface="+mn-ea"/>
              </a:rPr>
              <a:t>)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pos="527685" algn="l"/>
              </a:tabLst>
            </a:pPr>
            <a:endParaRPr lang="en-IN" sz="2200" spc="-10" dirty="0">
              <a:latin typeface="Times New Roman" panose="02020603050405020304"/>
              <a:cs typeface="Times New Roman" panose="02020603050405020304"/>
            </a:endParaRPr>
          </a:p>
          <a:p>
            <a:pPr marR="8255" algn="ctr">
              <a:lnSpc>
                <a:spcPct val="100000"/>
              </a:lnSpc>
              <a:spcBef>
                <a:spcPts val="330"/>
              </a:spcBef>
            </a:pPr>
            <a:endParaRPr lang="en-IN" sz="2200" dirty="0">
              <a:latin typeface="+mj-lt"/>
              <a:cs typeface="Times New Roman" panose="02020603050405020304" pitchFamily="18" charset="0"/>
            </a:endParaRPr>
          </a:p>
          <a:p>
            <a:pPr marR="8255" algn="ctr">
              <a:lnSpc>
                <a:spcPct val="100000"/>
              </a:lnSpc>
              <a:spcBef>
                <a:spcPts val="330"/>
              </a:spcBef>
            </a:pPr>
            <a:endParaRPr lang="en-IN" sz="2200" dirty="0">
              <a:latin typeface="+mj-lt"/>
              <a:cs typeface="Times New Roman" panose="02020603050405020304" pitchFamily="18" charset="0"/>
            </a:endParaRPr>
          </a:p>
          <a:p>
            <a:pPr marR="8255" algn="ctr">
              <a:lnSpc>
                <a:spcPct val="100000"/>
              </a:lnSpc>
              <a:spcBef>
                <a:spcPts val="33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Department of Computer Science and Engineering,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 algn="ctr">
              <a:lnSpc>
                <a:spcPct val="100000"/>
              </a:lnSpc>
              <a:spcBef>
                <a:spcPts val="33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Chitkara University, Punjab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 algn="ctr">
              <a:lnSpc>
                <a:spcPct val="100000"/>
              </a:lnSpc>
              <a:spcBef>
                <a:spcPts val="330"/>
              </a:spcBef>
            </a:pPr>
            <a:endParaRPr lang="en-IN" sz="22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434330" y="2893060"/>
            <a:ext cx="302387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Supervised By: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Dr. Rajat Takkar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Assistant Professor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Chitkara University, Rajpura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modern, web-based Employee Task Management System built with React that enables organizations to streamline task assignment, tracking, and workforce management through a clean, role-based interface.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It Solves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more scattered emails for task delegation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more manual attendance registers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more spreadsheets for tracking performance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Everything in one centralized platform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Authentication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for Admin and Employee with session persistence via localStorage and a sign-up flow for new users.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Management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create and assign tasks with title, description, due date, category, and priority. Employees can accept, update, and track task status (New → Active → Completed / Failed).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System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can mark check-in/check-out. Admin can verify attendance with camera photo capture. Full attendance history with monthly tracking.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Attendance Tracker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Auto-calculates monthly attendance percentage per employee, flags low attendance warnings.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Leaderboard &amp; Recognition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Ranks employees based on performance and task completion. Admins can give recognition badges to top performers.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Dashboard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overview of task completion rates, employee performance scores, and overall organizational productivity.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 Management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can apply for leaves. Admin can approve or reject requests with full leave history maintained.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Penalty Tracking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late check-ins and maintains a penalty log for admin review.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</a:t>
            </a:r>
            <a:endParaRPr lang="en-US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US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Client-Side Architecture is Viable for Enterprise Features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Context API is Sufficient for Mid-Scale State Management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 Has Practical Limits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UI Separation Improves UX Significantly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Camera-Based Attendance Adds Real-World Value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Feedback Increases User Confidence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 Accelerates Development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>
                <a:sym typeface="+mn-ea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Outcomes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Outcome 1 — Fully Functional Product Delivered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Outcome 2 — Fully Functional Product Delivered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Outcome 3 — Zero Infrastructure Cost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Outcome 4 — Scalable Codebase for Future Development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Outcome 5 — Improved Understanding of Real-World 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		    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Workflows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Outcome 6 — Enhanced Developer Competency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Tech Stack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229600" cy="4525963"/>
          </a:xfrm>
        </p:spPr>
        <p:txBody>
          <a:bodyPr/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Library: React 18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component-based UI rendering.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Management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Context API + useState – Used for global state like authentication, theme and user data.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Styling: Tailwind CSS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utility-first responsive design.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LocalStorage – Used for session handling and storing application data.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Logic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Conditional Rendering – Used for role-based dashboard and view switching.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API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Web MediaDevices API – Used for capturing photos for attendance feature.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Tool: Vite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Used for fast development and project bundling.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UML Class Diagram</a:t>
            </a:r>
            <a:endParaRPr lang="en-I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Image 29"/>
          <p:cNvPicPr>
            <a:picLocks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2371725" y="1374775"/>
            <a:ext cx="4796155" cy="4933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I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Image 30"/>
          <p:cNvPicPr>
            <a:picLocks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2487295" y="1374775"/>
            <a:ext cx="416814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System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AnalyticsDashboard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Shows task completion rates, active vs pending tasks, and overall productivity metrics.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SmartAttendance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Shows monthly attendance percentage per employee, low attendance warnings, and best employee badge.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PerformanceScore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Shows individual employee performance scores based on task completion.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Leaderboard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Shows ranked list of employees based on productivity and task output.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Selection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Dropdown to select any employee.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 Check-In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Admin can manually mark check-in with timestamp.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 Check-Out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Admin can manually mark check-out with timestamp.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Verified Badge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Attendance records marked by admin are flagged as “Admin Verified”.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TaskMate was developed with a clear and focused mission — to replace the fragmented, inefficient methods of traditional task and workforce management with a unified, intelligent, and user-friendly web platform. Over the course of this project, a fully functional, client-side employee management system was successfully designed, developed, and deployed using modern web technologies.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Backend Integration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AI-Powered Face Recognition for Attendance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Mobile Application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Email &amp; Push Notifications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Advanced Reporting &amp; Analytics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In-App Messaging &amp; Collaboration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4444</Words>
  <Application>WPS Presentation</Application>
  <PresentationFormat>On-screen Show (4:3)</PresentationFormat>
  <Paragraphs>117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MS PGothic</vt:lpstr>
      <vt:lpstr>Calibri</vt:lpstr>
      <vt:lpstr>Times New Roman</vt:lpstr>
      <vt:lpstr>Microsoft YaHei</vt:lpstr>
      <vt:lpstr>Arial Unicode MS</vt:lpstr>
      <vt:lpstr>Times New Roman</vt:lpstr>
      <vt:lpstr>Theme1</vt:lpstr>
      <vt:lpstr>1_Theme1</vt:lpstr>
      <vt:lpstr>PowerPoint 演示文稿</vt:lpstr>
      <vt:lpstr>Project Overview</vt:lpstr>
      <vt:lpstr>Key Features</vt:lpstr>
      <vt:lpstr>Key Features</vt:lpstr>
      <vt:lpstr>Key Findings </vt:lpstr>
      <vt:lpstr> Outcomes</vt:lpstr>
      <vt:lpstr>System Architecture &amp; Tech Stack</vt:lpstr>
      <vt:lpstr>PowerPoint 演示文稿</vt:lpstr>
      <vt:lpstr>PowerPoint 演示文稿</vt:lpstr>
      <vt:lpstr>Admin System</vt:lpstr>
      <vt:lpstr>Conclusion &amp; Future Scope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Vivek Rana</cp:lastModifiedBy>
  <cp:revision>179</cp:revision>
  <dcterms:created xsi:type="dcterms:W3CDTF">2024-07-10T18:26:00Z</dcterms:created>
  <dcterms:modified xsi:type="dcterms:W3CDTF">2026-05-08T10:29:42Z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2023-09-09T11:00:00Z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2024-07-10T11:00:00Z</vt:filetime>
  </property>
  <property fmtid="{D5CDD505-2E9C-101B-9397-08002B2CF9AE}" pid="5" name="KSOProductBuildVer">
    <vt:lpwstr>1033-12.1.0.25242</vt:lpwstr>
  </property>
  <property fmtid="{D5CDD505-2E9C-101B-9397-08002B2CF9AE}" pid="6" name="ICV">
    <vt:lpwstr>39EA56CC1B2B436A957F4174289447CD_13</vt:lpwstr>
  </property>
</Properties>
</file>